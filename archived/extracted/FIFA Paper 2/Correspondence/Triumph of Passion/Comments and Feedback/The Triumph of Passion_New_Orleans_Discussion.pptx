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89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318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9C42B-D552-4B20-BFA4-024B166FD34E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B4681-87F0-4F96-B329-1DF06D7B6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Factors</a:t>
            </a:r>
            <a:r>
              <a:rPr lang="en-US" baseline="0" dirty="0" smtClean="0"/>
              <a:t> like Skill, talent and initial resources </a:t>
            </a:r>
          </a:p>
          <a:p>
            <a:r>
              <a:rPr lang="en-US" baseline="0" dirty="0" smtClean="0"/>
              <a:t>Investment on HK, training, resources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B4681-87F0-4F96-B329-1DF06D7B6C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3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502"/>
            <a:ext cx="9144000" cy="507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4" cstate="print"/>
          <a:srcRect t="33333"/>
          <a:stretch>
            <a:fillRect/>
          </a:stretch>
        </p:blipFill>
        <p:spPr>
          <a:xfrm>
            <a:off x="0" y="60960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054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174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A247ADCE-CA65-4684-ABF7-1152054AFEC4}" type="datetimeFigureOut">
              <a:rPr lang="en-US" smtClean="0"/>
              <a:t>10/29/2013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259520E-6C4D-48C8-91C6-A8E05C6CD4B0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Discussion</a:t>
            </a:r>
          </a:p>
          <a:p>
            <a:r>
              <a:rPr lang="en-US" dirty="0" smtClean="0"/>
              <a:t>Fernando Rios-Avila</a:t>
            </a:r>
          </a:p>
          <a:p>
            <a:r>
              <a:rPr lang="en-US" dirty="0" smtClean="0"/>
              <a:t>Georgia State University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7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Triumph of Passion:</a:t>
            </a:r>
            <a:br>
              <a:rPr lang="en-US" dirty="0" smtClean="0"/>
            </a:br>
            <a:r>
              <a:rPr lang="en-US" dirty="0" smtClean="0"/>
              <a:t>How Strong domestic clubs lead to national soccer success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4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What factors explain soccer success?</a:t>
            </a:r>
          </a:p>
          <a:p>
            <a:r>
              <a:rPr lang="en-US" sz="2400" dirty="0" smtClean="0"/>
              <a:t>What is the role that internal soccer competition (soccer clubs) play on the success of the country’s soccer? Can this explain the observed trend on ranking in the last decade?</a:t>
            </a:r>
          </a:p>
          <a:p>
            <a:r>
              <a:rPr lang="en-US" sz="2400" dirty="0" smtClean="0"/>
              <a:t>Use of a 2SLS in panel FE approach.</a:t>
            </a:r>
          </a:p>
          <a:p>
            <a:r>
              <a:rPr lang="en-US" sz="2400" dirty="0" smtClean="0"/>
              <a:t>To identify the effect the Club Strength contributes to National strength. IV=Urban Pop in a country.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00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Comments: Fan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00200"/>
            <a:ext cx="8229600" cy="4876800"/>
          </a:xfrm>
        </p:spPr>
        <p:txBody>
          <a:bodyPr>
            <a:noAutofit/>
          </a:bodyPr>
          <a:lstStyle/>
          <a:p>
            <a:r>
              <a:rPr lang="en-US" sz="2200" dirty="0" smtClean="0"/>
              <a:t>In the last years European countries have been present in the finals of the World Cup.</a:t>
            </a:r>
          </a:p>
          <a:p>
            <a:r>
              <a:rPr lang="en-US" sz="2200" dirty="0" smtClean="0"/>
              <a:t>Still, Brazil was the first to win the WC 6 times!! (ok perhaps the exception)</a:t>
            </a:r>
          </a:p>
          <a:p>
            <a:r>
              <a:rPr lang="en-US" sz="2200" dirty="0" smtClean="0"/>
              <a:t>Compared to the pool of competition, we do great!.</a:t>
            </a:r>
          </a:p>
          <a:p>
            <a:r>
              <a:rPr lang="en-US" sz="2200" dirty="0" smtClean="0"/>
              <a:t>The perception of soccer strength has changed a lot in last couple of decades.</a:t>
            </a:r>
          </a:p>
          <a:p>
            <a:pPr lvl="1"/>
            <a:r>
              <a:rPr lang="en-US" sz="2200" dirty="0" smtClean="0"/>
              <a:t>Brazil-&gt; Germany-&gt;Brazil-&gt;Spain-&gt;Brazil (Top barely changed)</a:t>
            </a:r>
          </a:p>
          <a:p>
            <a:pPr lvl="1"/>
            <a:r>
              <a:rPr lang="en-US" sz="2200" dirty="0" smtClean="0"/>
              <a:t>Ranking in the middle has changed a lot</a:t>
            </a:r>
          </a:p>
          <a:p>
            <a:pPr lvl="2"/>
            <a:r>
              <a:rPr lang="en-US" sz="2200" dirty="0" smtClean="0"/>
              <a:t>Venezuela, Japan, USA</a:t>
            </a:r>
          </a:p>
          <a:p>
            <a:pPr lvl="2"/>
            <a:r>
              <a:rPr lang="en-US" sz="2200" dirty="0" smtClean="0"/>
              <a:t>Bolivia, Peru </a:t>
            </a:r>
          </a:p>
          <a:p>
            <a:endParaRPr lang="en-US" sz="2200" dirty="0" smtClean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4744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Comments: Economist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sz="2800" dirty="0" smtClean="0">
                    <a:latin typeface="+mj-lt"/>
                  </a:rPr>
                  <a:t>How much of the production function is one able to control?</a:t>
                </a:r>
                <a:endParaRPr lang="en-US" sz="2800" b="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𝑊𝑅</m:t>
                    </m:r>
                    <m:r>
                      <a:rPr lang="en-US" sz="2800" i="1" dirty="0" smtClean="0">
                        <a:latin typeface="Cambria Math"/>
                      </a:rPr>
                      <m:t>=</m:t>
                    </m:r>
                    <m:r>
                      <a:rPr lang="en-US" sz="2800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𝐻</m:t>
                        </m:r>
                        <m:sSub>
                          <m:sSubPr>
                            <m:ctrlPr>
                              <a:rPr lang="en-US" sz="2800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latin typeface="Cambria Math"/>
                          </a:rPr>
                          <m:t>Δ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𝐻𝐾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, 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𝐶𝑜𝑚𝑝𝑒𝑡𝑖𝑡𝑖𝑜𝑛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, 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𝑈𝑛𝑜𝑏𝑠𝑒𝑟𝑣𝑒𝑑</m:t>
                        </m:r>
                      </m:e>
                    </m:d>
                  </m:oMath>
                </a14:m>
                <a:endParaRPr lang="en-US" sz="2800" b="0" dirty="0" smtClean="0">
                  <a:latin typeface="+mj-lt"/>
                </a:endParaRPr>
              </a:p>
              <a:p>
                <a:r>
                  <a:rPr lang="en-US" sz="2800" dirty="0" smtClean="0">
                    <a:latin typeface="+mj-lt"/>
                  </a:rPr>
                  <a:t>GDP, pop, Life Expect= </a:t>
                </a:r>
                <a:r>
                  <a:rPr lang="en-US" sz="2800" dirty="0" err="1" smtClean="0">
                    <a:latin typeface="+mj-lt"/>
                  </a:rPr>
                  <a:t>HKo</a:t>
                </a:r>
                <a:endParaRPr lang="en-US" sz="2800" dirty="0">
                  <a:latin typeface="+mj-lt"/>
                </a:endParaRPr>
              </a:p>
              <a:p>
                <a:r>
                  <a:rPr lang="en-US" sz="2800" dirty="0" smtClean="0">
                    <a:latin typeface="+mj-lt"/>
                  </a:rPr>
                  <a:t>Inflation &amp; Oil = a bit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Δ</m:t>
                    </m:r>
                    <m:r>
                      <a:rPr lang="en-US" sz="2800" b="0" i="1" dirty="0" smtClean="0">
                        <a:latin typeface="Cambria Math"/>
                      </a:rPr>
                      <m:t>𝐻𝐾</m:t>
                    </m:r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sz="2800" dirty="0" smtClean="0">
                  <a:latin typeface="+mj-lt"/>
                </a:endParaRPr>
              </a:p>
              <a:p>
                <a:r>
                  <a:rPr lang="en-US" sz="2800" dirty="0" smtClean="0"/>
                  <a:t>Trade and openness  perhaps competition</a:t>
                </a:r>
                <a:endParaRPr lang="en-US" sz="2800" dirty="0" smtClean="0">
                  <a:latin typeface="+mj-lt"/>
                </a:endParaRPr>
              </a:p>
              <a:p>
                <a:r>
                  <a:rPr lang="en-US" sz="2800" dirty="0" smtClean="0">
                    <a:latin typeface="+mj-lt"/>
                  </a:rPr>
                  <a:t>Club ranking=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Δ</m:t>
                    </m:r>
                    <m:r>
                      <a:rPr lang="en-US" sz="2800" b="0" i="1" dirty="0" smtClean="0">
                        <a:latin typeface="Cambria Math"/>
                      </a:rPr>
                      <m:t>𝐻𝐾</m:t>
                    </m:r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+mj-lt"/>
                  </a:rPr>
                  <a:t>and competition.</a:t>
                </a:r>
              </a:p>
              <a:p>
                <a:r>
                  <a:rPr lang="en-US" sz="2800" dirty="0" smtClean="0">
                    <a:latin typeface="+mj-lt"/>
                  </a:rPr>
                  <a:t>What else is unobserved? Without Club Ranking, a lot! (very low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 smtClean="0">
                    <a:latin typeface="+mj-lt"/>
                  </a:rPr>
                  <a:t>) With CR, unknown.</a:t>
                </a:r>
              </a:p>
              <a:p>
                <a:r>
                  <a:rPr lang="en-US" sz="2800" dirty="0" smtClean="0">
                    <a:latin typeface="+mj-lt"/>
                  </a:rPr>
                  <a:t>But many the same factors that explain Club Ranking also explain National Ranking (Simultaneity)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3"/>
                <a:stretch>
                  <a:fillRect l="-846" t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88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Comments: Econometrician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Problem of simultaneity between CR and WR.</a:t>
            </a:r>
          </a:p>
          <a:p>
            <a:r>
              <a:rPr lang="en-US" sz="2200" dirty="0" smtClean="0"/>
              <a:t>Solution: find a variable that contributes to the Club improvement but does not affect National team directly.</a:t>
            </a:r>
          </a:p>
          <a:p>
            <a:r>
              <a:rPr lang="en-US" sz="2200" dirty="0" smtClean="0"/>
              <a:t>IV, % Urban population: Is it really exogenous? </a:t>
            </a:r>
          </a:p>
          <a:p>
            <a:pPr lvl="1"/>
            <a:r>
              <a:rPr lang="en-US" sz="2200" dirty="0" smtClean="0"/>
              <a:t>In most cases, larger urban areas might provide a larger pool of players. Players affect both national and local teams success.</a:t>
            </a:r>
          </a:p>
          <a:p>
            <a:pPr lvl="1"/>
            <a:r>
              <a:rPr lang="en-US" sz="2200" dirty="0" smtClean="0"/>
              <a:t>Simultaneity remains present.</a:t>
            </a:r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0450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Possibilities?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2200" dirty="0" smtClean="0"/>
              <a:t>Alternatives for IV:</a:t>
            </a:r>
            <a:endParaRPr lang="en-US" sz="2200" dirty="0"/>
          </a:p>
          <a:p>
            <a:pPr lvl="1"/>
            <a:r>
              <a:rPr lang="en-US" sz="2200" dirty="0"/>
              <a:t>How much does the Club invest on the </a:t>
            </a:r>
            <a:r>
              <a:rPr lang="en-US" sz="2200" dirty="0" smtClean="0"/>
              <a:t>team</a:t>
            </a:r>
          </a:p>
          <a:p>
            <a:pPr lvl="1"/>
            <a:r>
              <a:rPr lang="en-US" sz="2200" dirty="0" smtClean="0"/>
              <a:t>How high is players wage?</a:t>
            </a:r>
            <a:endParaRPr lang="en-US" sz="2200" dirty="0"/>
          </a:p>
          <a:p>
            <a:pPr lvl="1"/>
            <a:r>
              <a:rPr lang="en-US" sz="2200" dirty="0"/>
              <a:t>% of foreign players in the Club soccer</a:t>
            </a:r>
          </a:p>
          <a:p>
            <a:r>
              <a:rPr lang="en-US" sz="2200" dirty="0"/>
              <a:t>Additional </a:t>
            </a:r>
            <a:r>
              <a:rPr lang="en-US" sz="2200" dirty="0" smtClean="0"/>
              <a:t>variable for specification</a:t>
            </a:r>
          </a:p>
          <a:p>
            <a:pPr lvl="1"/>
            <a:r>
              <a:rPr lang="en-US" sz="2200" dirty="0" smtClean="0"/>
              <a:t>For FIFA ranking. </a:t>
            </a:r>
          </a:p>
          <a:p>
            <a:pPr lvl="2"/>
            <a:r>
              <a:rPr lang="en-US" sz="2200" dirty="0" smtClean="0"/>
              <a:t>Number of Clubs in the Country. Structure of internal competition.</a:t>
            </a:r>
          </a:p>
          <a:p>
            <a:pPr lvl="2"/>
            <a:r>
              <a:rPr lang="en-US" sz="2200" dirty="0" smtClean="0"/>
              <a:t>% of Domestic players playing abroad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9002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Very nice paper with some interesting evidence explaining Soccer success.</a:t>
            </a:r>
          </a:p>
          <a:p>
            <a:r>
              <a:rPr lang="en-US" sz="2200" dirty="0" smtClean="0"/>
              <a:t>Not sure if the IV is truly exogenous and capturing the story that is being told.</a:t>
            </a:r>
          </a:p>
          <a:p>
            <a:r>
              <a:rPr lang="en-US" sz="2200" dirty="0" smtClean="0"/>
              <a:t>If they Key for National Soccer Success are the Clubs, How can we make stronger clubs? </a:t>
            </a:r>
          </a:p>
          <a:p>
            <a:r>
              <a:rPr lang="en-US" sz="2200" dirty="0" smtClean="0"/>
              <a:t>Other questions:</a:t>
            </a:r>
          </a:p>
          <a:p>
            <a:pPr lvl="1"/>
            <a:r>
              <a:rPr lang="en-US" sz="2200" dirty="0" smtClean="0"/>
              <a:t>What mechanisms make Club Success transform into National Success?</a:t>
            </a:r>
          </a:p>
          <a:p>
            <a:pPr lvl="1"/>
            <a:r>
              <a:rPr lang="en-US" sz="2200" dirty="0" smtClean="0"/>
              <a:t>How dynamic are the changes on the FIFA ranking?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0192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fifaworldcupbrazil-2014.com/worldcup2014/logo-copa-brasil-fifa01-entrop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990600"/>
            <a:ext cx="4571999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50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292</TotalTime>
  <Words>487</Words>
  <Application>Microsoft Office PowerPoint</Application>
  <PresentationFormat>On-screen Show (4:3)</PresentationFormat>
  <Paragraphs>52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Horizon</vt:lpstr>
      <vt:lpstr>The Triumph of Passion: How Strong domestic clubs lead to national soccer success</vt:lpstr>
      <vt:lpstr>Summary</vt:lpstr>
      <vt:lpstr>Comments: Fan</vt:lpstr>
      <vt:lpstr>Comments: Economist</vt:lpstr>
      <vt:lpstr>Comments: Econometrician</vt:lpstr>
      <vt:lpstr>Possibilities?</vt:lpstr>
      <vt:lpstr>Conclusions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Triumph of Passion: How Strong domestic clubs lead to national soccer success</dc:title>
  <dc:creator>Fernando</dc:creator>
  <cp:lastModifiedBy>Narek Sahakyan</cp:lastModifiedBy>
  <cp:revision>15</cp:revision>
  <dcterms:created xsi:type="dcterms:W3CDTF">2012-11-14T01:48:30Z</dcterms:created>
  <dcterms:modified xsi:type="dcterms:W3CDTF">2013-10-29T14:26:39Z</dcterms:modified>
</cp:coreProperties>
</file>